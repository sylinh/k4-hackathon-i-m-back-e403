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112194abd84447" /><Relationship Type="http://schemas.openxmlformats.org/officeDocument/2006/relationships/extended-properties" Target="/docProps/app.xml" Id="R13b7c4e2c33a4814" /><Relationship Type="http://schemas.openxmlformats.org/officeDocument/2006/relationships/officeDocument" Target="/ppt/presentation.xml" Id="R628a61c066744c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6c90bb3a84468a"/>
  </p:sldMasterIdLst>
  <p:notesMasterIdLst>
    <p:notesMasterId xmlns:r="http://schemas.openxmlformats.org/officeDocument/2006/relationships" r:id="R5b319f66f9df423d"/>
  </p:notesMasterIdLst>
  <p:sldIdLst>
    <p:sldId xmlns:r="http://schemas.openxmlformats.org/officeDocument/2006/relationships" id="256" r:id="R6dddbbd5051c4cd9"/>
    <p:sldId xmlns:r="http://schemas.openxmlformats.org/officeDocument/2006/relationships" id="257" r:id="R1a4464391edc444c"/>
    <p:sldId xmlns:r="http://schemas.openxmlformats.org/officeDocument/2006/relationships" id="258" r:id="R5593c7a6503a4ba3"/>
    <p:sldId xmlns:r="http://schemas.openxmlformats.org/officeDocument/2006/relationships" id="259" r:id="R8023068c138742b6"/>
    <p:sldId xmlns:r="http://schemas.openxmlformats.org/officeDocument/2006/relationships" id="260" r:id="Ra24bbb0825e74be3"/>
    <p:sldId xmlns:r="http://schemas.openxmlformats.org/officeDocument/2006/relationships" id="261" r:id="Rf3208e09fc2642a9"/>
    <p:sldId xmlns:r="http://schemas.openxmlformats.org/officeDocument/2006/relationships" id="262" r:id="R9ec5f449c09143f0"/>
    <p:sldId xmlns:r="http://schemas.openxmlformats.org/officeDocument/2006/relationships" id="263" r:id="R68e6486061164e27"/>
    <p:sldId xmlns:r="http://schemas.openxmlformats.org/officeDocument/2006/relationships" id="264" r:id="R2bb0faeacbb847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fabb9e623b4a7e" /><Relationship Type="http://schemas.openxmlformats.org/officeDocument/2006/relationships/slideMaster" Target="/ppt/slideMasters/slideMaster1.xml" Id="R376c90bb3a84468a" /><Relationship Type="http://schemas.openxmlformats.org/officeDocument/2006/relationships/notesMaster" Target="/ppt/notesMasters/notesMaster1.xml" Id="R5b319f66f9df423d" /><Relationship Type="http://schemas.openxmlformats.org/officeDocument/2006/relationships/presProps" Target="/ppt/presProps.xml" Id="R2d8df272b20649c6" /><Relationship Type="http://schemas.openxmlformats.org/officeDocument/2006/relationships/tableStyles" Target="/ppt/tableStyles.xml" Id="R238af350b11c40f9" /><Relationship Type="http://schemas.openxmlformats.org/officeDocument/2006/relationships/slide" Target="/ppt/slides/slide1.xml" Id="R6dddbbd5051c4cd9" /><Relationship Type="http://schemas.openxmlformats.org/officeDocument/2006/relationships/slide" Target="/ppt/slides/slide2.xml" Id="R1a4464391edc444c" /><Relationship Type="http://schemas.openxmlformats.org/officeDocument/2006/relationships/slide" Target="/ppt/slides/slide3.xml" Id="R5593c7a6503a4ba3" /><Relationship Type="http://schemas.openxmlformats.org/officeDocument/2006/relationships/slide" Target="/ppt/slides/slide4.xml" Id="R8023068c138742b6" /><Relationship Type="http://schemas.openxmlformats.org/officeDocument/2006/relationships/slide" Target="/ppt/slides/slide5.xml" Id="Ra24bbb0825e74be3" /><Relationship Type="http://schemas.openxmlformats.org/officeDocument/2006/relationships/slide" Target="/ppt/slides/slide6.xml" Id="Rf3208e09fc2642a9" /><Relationship Type="http://schemas.openxmlformats.org/officeDocument/2006/relationships/slide" Target="/ppt/slides/slide7.xml" Id="R9ec5f449c09143f0" /><Relationship Type="http://schemas.openxmlformats.org/officeDocument/2006/relationships/slide" Target="/ppt/slides/slide8.xml" Id="R68e6486061164e27" /><Relationship Type="http://schemas.openxmlformats.org/officeDocument/2006/relationships/slide" Target="/ppt/slides/slide9.xml" Id="R2bb0faeacbb847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f0fc3512b042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a35daa0fc449c7" /><Relationship Type="http://schemas.openxmlformats.org/officeDocument/2006/relationships/notesMaster" Target="/ppt/notesMasters/notesMaster1.xml" Id="R4fdc017ae14043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99c2a0aaba4bdc" /><Relationship Type="http://schemas.openxmlformats.org/officeDocument/2006/relationships/notesMaster" Target="/ppt/notesMasters/notesMaster1.xml" Id="R686038ff20c044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69606756de49f2" /><Relationship Type="http://schemas.openxmlformats.org/officeDocument/2006/relationships/notesMaster" Target="/ppt/notesMasters/notesMaster1.xml" Id="Rbd4afb179a3c41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199822abb84ae6" /><Relationship Type="http://schemas.openxmlformats.org/officeDocument/2006/relationships/notesMaster" Target="/ppt/notesMasters/notesMaster1.xml" Id="Rd8a4465d02ef4a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23dcfa10d04362" /><Relationship Type="http://schemas.openxmlformats.org/officeDocument/2006/relationships/notesMaster" Target="/ppt/notesMasters/notesMaster1.xml" Id="R4e141d2b4c614b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5355b6b2d04b76" /><Relationship Type="http://schemas.openxmlformats.org/officeDocument/2006/relationships/notesMaster" Target="/ppt/notesMasters/notesMaster1.xml" Id="R9489d928676a44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a10668523f48c7" /><Relationship Type="http://schemas.openxmlformats.org/officeDocument/2006/relationships/notesMaster" Target="/ppt/notesMasters/notesMaster1.xml" Id="R7e1a28318b2b41f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3c7d09d5894602" /><Relationship Type="http://schemas.openxmlformats.org/officeDocument/2006/relationships/notesMaster" Target="/ppt/notesMasters/notesMaster1.xml" Id="R91cbc8390dfc41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ced45113314d5f" /><Relationship Type="http://schemas.openxmlformats.org/officeDocument/2006/relationships/notesMaster" Target="/ppt/notesMasters/notesMaster1.xml" Id="R72b8712ab97a45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§1, §4, §6</a:t>
            </a:r>
          </a:p>
          <a:p xmlns:a="http://schemas.openxmlformats.org/drawingml/2006/main">
            <a:r>
              <a:t>01-de-bai.md: lát cắt = một user · một việc · một quyết định AI · một kết quả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§1 lines 13–25</a:t>
            </a:r>
          </a:p>
          <a:p xmlns:a="http://schemas.openxmlformats.org/drawingml/2006/main">
            <a:r>
              <a:t>spec.md §2 lines 30–41</a:t>
            </a:r>
          </a:p>
          <a:p xmlns:a="http://schemas.openxmlformats.org/drawingml/2006/main">
            <a:r>
              <a:t>Không dùng dữ liệu ngoài pack được cấp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§2 lines 27–41</a:t>
            </a:r>
          </a:p>
          <a:p xmlns:a="http://schemas.openxmlformats.org/drawingml/2006/main">
            <a:r>
              <a:t>spec.md §4 lines 48–62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§4 lines 49–62</a:t>
            </a:r>
          </a:p>
          <a:p xmlns:a="http://schemas.openxmlformats.org/drawingml/2006/main">
            <a:r>
              <a:t>spec.md §6 lines 86–92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§4b lines 63–71</a:t>
            </a:r>
          </a:p>
          <a:p xmlns:a="http://schemas.openxmlformats.org/drawingml/2006/main">
            <a:r>
              <a:t>spec.md §5 lines 73–84</a:t>
            </a:r>
          </a:p>
          <a:p xmlns:a="http://schemas.openxmlformats.org/drawingml/2006/main">
            <a:r>
              <a:t>spec.md §6 lines 88–92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§4 lines 49–71</a:t>
            </a:r>
          </a:p>
          <a:p xmlns:a="http://schemas.openxmlformats.org/drawingml/2006/main">
            <a:r>
              <a:t>spec.md §4 non-goals lines 51–55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§7 lines 94–110</a:t>
            </a:r>
          </a:p>
          <a:p xmlns:a="http://schemas.openxmlformats.org/drawingml/2006/main">
            <a:r>
              <a:t>eval/README.md</a:t>
            </a:r>
          </a:p>
          <a:p xmlns:a="http://schemas.openxmlformats.org/drawingml/2006/main">
            <a:r>
              <a:t>Kết quả chưa đạt quality bar được trình bày nguyên trạng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§6</a:t>
            </a:r>
          </a:p>
          <a:p xmlns:a="http://schemas.openxmlformats.org/drawingml/2006/main">
            <a:r>
              <a:t>spec.md §7</a:t>
            </a:r>
          </a:p>
          <a:p xmlns:a="http://schemas.openxmlformats.org/drawingml/2006/main">
            <a:r>
              <a:t>01-de-bai.md: demo 5 phút và case lỗi live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spec.md §1, §4, §7, §8</a:t>
            </a:r>
          </a:p>
          <a:p xmlns:a="http://schemas.openxmlformats.org/drawingml/2006/main">
            <a:r>
              <a:t>Kết luận tổng hợp từ bằng chứng và giới hạn hiện tại của prototype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8f7d5bdf046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ee09060a34bae" /><Relationship Type="http://schemas.openxmlformats.org/officeDocument/2006/relationships/slideLayout" Target="/ppt/slideLayouts/slideLayout1.xml" Id="Rdb3e6a39ed3946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e6a39ed3946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6ad3785914814" /><Relationship Type="http://schemas.openxmlformats.org/officeDocument/2006/relationships/notesSlide" Target="/ppt/notesSlides/notesSlide1.xml" Id="Rf1a1a5b3ef7249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f9fd9455b4da7" /><Relationship Type="http://schemas.openxmlformats.org/officeDocument/2006/relationships/notesSlide" Target="/ppt/notesSlides/notesSlide2.xml" Id="Rcfb8ff34ee0b4e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131a6f3f34b18" /><Relationship Type="http://schemas.openxmlformats.org/officeDocument/2006/relationships/notesSlide" Target="/ppt/notesSlides/notesSlide3.xml" Id="R47ac4e492bef4b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510b8c4c44f3b" /><Relationship Type="http://schemas.openxmlformats.org/officeDocument/2006/relationships/notesSlide" Target="/ppt/notesSlides/notesSlide4.xml" Id="R93900fc18c0848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a4d92912c4d7f" /><Relationship Type="http://schemas.openxmlformats.org/officeDocument/2006/relationships/notesSlide" Target="/ppt/notesSlides/notesSlide5.xml" Id="R7806959f35594f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ff6c22e304071" /><Relationship Type="http://schemas.openxmlformats.org/officeDocument/2006/relationships/notesSlide" Target="/ppt/notesSlides/notesSlide6.xml" Id="Rd90b09d901b747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336340bd141b5" /><Relationship Type="http://schemas.openxmlformats.org/officeDocument/2006/relationships/notesSlide" Target="/ppt/notesSlides/notesSlide7.xml" Id="Rd030d7343f594d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c4a52df1d4663" /><Relationship Type="http://schemas.openxmlformats.org/officeDocument/2006/relationships/notesSlide" Target="/ppt/notesSlides/notesSlide8.xml" Id="R525a54088bbf44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381d3ca784275" /><Relationship Type="http://schemas.openxmlformats.org/officeDocument/2006/relationships/notesSlide" Target="/ppt/notesSlides/notesSlide9.xml" Id="R1126232df76646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29759A-90DA-4DE4-BA1C-82F9A8FA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B7580"/>
                </a:solidFill>
              </a:defRPr>
            </a:pPr>
            <a:r>
              <a:rPr sz="900" b="1">
                <a:solidFill>
                  <a:srgbClr val="6B7580"/>
                </a:solidFill>
              </a:rPr>
              <a:t>AI SPEC · VLEARN · NHÓM I'M BACK · ZONE A1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6DA4F-68CD-4174-B229-A9CCC224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3F0E5"/>
                </a:solidFill>
              </a:defRPr>
            </a:pPr>
            <a:r>
              <a:rPr sz="4350" b="1">
                <a:solidFill>
                  <a:srgbClr val="F3F0E5"/>
                </a:solidFill>
              </a:rPr>
              <a:t>Adaptive Recall</a:t>
            </a:r>
          </a:p>
          <a:p xmlns:a="http://schemas.openxmlformats.org/drawingml/2006/main">
            <a:pPr algn="l">
              <a:defRPr sz="4350" b="1">
                <a:solidFill>
                  <a:srgbClr val="F3F0E5"/>
                </a:solidFill>
              </a:defRPr>
            </a:pPr>
            <a:r>
              <a:rPr sz="4350" b="1">
                <a:solidFill>
                  <a:srgbClr val="F3F0E5"/>
                </a:solidFill>
              </a:rPr>
              <a:t>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CAFFA-3991-42CD-9C83-D0CAFD1E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2C8BB"/>
                </a:solidFill>
              </a:defRPr>
            </a:pPr>
            <a:r>
              <a:rPr sz="1800" b="0">
                <a:solidFill>
                  <a:srgbClr val="C2C8BB"/>
                </a:solidFill>
              </a:rPr>
              <a:t>Biến một đoạn highlight thành mini-review 2 phút, có căn cứ và đúng ngữ cảnh slide.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9E1F6-4D53-4C2F-ACAF-7C5A88DF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55C"/>
          </a:solidFill>
          <a:ln xmlns:a="http://schemas.openxmlformats.org/drawingml/2006/main" w="0">
            <a:solidFill>
              <a:srgbClr val="E685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A25D58-F291-4F2C-8F27-06AA72C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0E5"/>
                </a:solidFill>
              </a:defRPr>
            </a:pPr>
            <a:r>
              <a:rPr sz="1575" b="1">
                <a:solidFill>
                  <a:srgbClr val="F3F0E5"/>
                </a:solidFill>
              </a:rPr>
              <a:t>Một học viên · một việc · một quyết định AI · một kết quả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EE753-7B01-41C4-A03D-B0A023DF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162050"/>
            <a:ext cx="3714750" cy="400050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C4735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88838-4632-4960-B825-B3509713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466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84B"/>
                </a:solidFill>
              </a:defRPr>
            </a:pPr>
            <a:r>
              <a:rPr sz="975" b="1">
                <a:solidFill>
                  <a:srgbClr val="F2C84B"/>
                </a:solidFill>
              </a:rPr>
              <a:t>THE PRODUCT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D8140-FE2F-4AC0-BED3-35702A0B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solidFill>
              <a:srgbClr val="F2C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38581C-C506-4698-8F78-D6234FAD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669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0E5"/>
                </a:solidFill>
              </a:defRPr>
            </a:pPr>
            <a:r>
              <a:rPr sz="1350" b="0">
                <a:solidFill>
                  <a:srgbClr val="F3F0E5"/>
                </a:solidFill>
              </a:rPr>
              <a:t>Highlight đoạn đang học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A077F-E056-4477-8ACC-E03EF347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955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654"/>
          </a:solidFill>
          <a:ln xmlns:a="http://schemas.openxmlformats.org/drawingml/2006/main" w="0">
            <a:solidFill>
              <a:srgbClr val="3F66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1BBA1-C333-4F54-A7A8-CFBC6EC0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solidFill>
              <a:srgbClr val="F2C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E5FB7-48BB-4A78-A0B2-7FDD7657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146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0E5"/>
                </a:solidFill>
              </a:defRPr>
            </a:pPr>
            <a:r>
              <a:rPr sz="1350" b="0">
                <a:solidFill>
                  <a:srgbClr val="F3F0E5"/>
                </a:solidFill>
              </a:rPr>
              <a:t>Tạo quiz + flashcard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33280A-81C5-4FAE-8822-F410090C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432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654"/>
          </a:solidFill>
          <a:ln xmlns:a="http://schemas.openxmlformats.org/drawingml/2006/main" w="0">
            <a:solidFill>
              <a:srgbClr val="3F66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75470F-513B-45DE-83BC-5F55108B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337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solidFill>
              <a:srgbClr val="F2C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E34FE-5316-4467-B0EF-1FA94B60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623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3F0E5"/>
                </a:solidFill>
              </a:defRPr>
            </a:pPr>
            <a:r>
              <a:rPr sz="1350" b="0">
                <a:solidFill>
                  <a:srgbClr val="F3F0E5"/>
                </a:solidFill>
              </a:rPr>
              <a:t>Review ngắn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7A188-16CE-4533-A884-4EF43C52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909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654"/>
          </a:solidFill>
          <a:ln xmlns:a="http://schemas.openxmlformats.org/drawingml/2006/main" w="0">
            <a:solidFill>
              <a:srgbClr val="3F665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EE61A4-4D3B-45CE-985C-DB56189E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D36F"/>
          </a:solidFill>
          <a:ln xmlns:a="http://schemas.openxmlformats.org/drawingml/2006/main" w="0">
            <a:solidFill>
              <a:srgbClr val="C7D3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BFC156-9611-4B67-B495-5C5D95E0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100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0E5"/>
                </a:solidFill>
              </a:defRPr>
            </a:pPr>
            <a:r>
              <a:rPr sz="1350" b="1">
                <a:solidFill>
                  <a:srgbClr val="F3F0E5"/>
                </a:solidFill>
              </a:rPr>
              <a:t>Kiểm lại citation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67442-97D7-4A8E-A634-E072E140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296"/>
                </a:solidFill>
              </a:defRPr>
            </a:pPr>
            <a:r>
              <a:rPr sz="750" b="0">
                <a:solidFill>
                  <a:srgbClr val="92A296"/>
                </a:solidFill>
              </a:rPr>
              <a:t>Báo cáo sản phẩm · bằng chứng và hành vi được chốt trong spec.md</a:t>
            </a:r>
          </a:p>
        </p:txBody>
      </p:sp>
    </p:spTree>
    <p:extLst>
      <p:ext uri="{BB962C8B-B14F-4D97-AF65-F5344CB8AC3E}">
        <p14:creationId xmlns:p14="http://schemas.microsoft.com/office/powerpoint/2010/main" val="603364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2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858AE6-B21F-4F01-ABC7-57A3F1D0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855C"/>
                </a:solidFill>
              </a:defRPr>
            </a:pPr>
            <a:r>
              <a:rPr sz="900" b="1">
                <a:solidFill>
                  <a:srgbClr val="E6855C"/>
                </a:solidFill>
              </a:rPr>
              <a:t>1 · BẰNG CHỨNG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99107-B6BF-46AB-90CC-D0F4015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0E5"/>
                </a:solidFill>
              </a:defRPr>
            </a:pPr>
            <a:r>
              <a:rPr sz="2700" b="1">
                <a:solidFill>
                  <a:srgbClr val="F3F0E5"/>
                </a:solidFill>
              </a:rPr>
              <a:t>Pain không nằm ở việc học viên không highlight; nằm ở lúc họ review.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3C29D-EE47-418A-8C0B-A9E9F495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Khảo sát n = 22 cho thấy hành vi hiện tại có độ lặp cao và có chi phí rõ ràng.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D1247-EE75-4340-B8A1-2FA84B91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55C"/>
          </a:solidFill>
          <a:ln xmlns:a="http://schemas.openxmlformats.org/drawingml/2006/main" w="0">
            <a:solidFill>
              <a:srgbClr val="E685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6E32C-83CC-40B0-94D9-76567309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193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1B5A45-D491-4A64-9422-2FD6BDBB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384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solidFill>
              <a:srgbClr val="F2C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CB055-3170-40E1-BE46-C0C4C93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0E5"/>
                </a:solidFill>
              </a:defRPr>
            </a:pPr>
            <a:r>
              <a:rPr sz="2400" b="1">
                <a:solidFill>
                  <a:srgbClr val="F3F0E5"/>
                </a:solidFill>
              </a:rPr>
              <a:t>59.1%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6F3DD-EBB4-4A1F-8081-62A7EDCD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highlight trên slide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92527-39BA-434A-8B96-1A826BA3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2C8BB"/>
                </a:solidFill>
              </a:defRPr>
            </a:pPr>
            <a:r>
              <a:rPr sz="825" b="0">
                <a:solidFill>
                  <a:srgbClr val="C2C8BB"/>
                </a:solidFill>
              </a:rPr>
              <a:t>13/22 người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150623-4FF5-4309-A6F1-3B665DA2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24193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AF4FDB-BCBA-432B-9A0B-20948A00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384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165"/>
          </a:solidFill>
          <a:ln xmlns:a="http://schemas.openxmlformats.org/drawingml/2006/main" w="0">
            <a:solidFill>
              <a:srgbClr val="E081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91FA5-1C43-4AD6-861D-C699699B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0E5"/>
                </a:solidFill>
              </a:defRPr>
            </a:pPr>
            <a:r>
              <a:rPr sz="2400" b="1">
                <a:solidFill>
                  <a:srgbClr val="F3F0E5"/>
                </a:solidFill>
              </a:rPr>
              <a:t>86.4%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6DABA-40D7-454F-A082-1E5402DC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67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review thụ động kém/bình thường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CC6DC-70FA-4582-A57D-05575211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4671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2C8BB"/>
                </a:solidFill>
              </a:defRPr>
            </a:pPr>
            <a:r>
              <a:rPr sz="825" b="0">
                <a:solidFill>
                  <a:srgbClr val="C2C8BB"/>
                </a:solidFill>
              </a:rPr>
              <a:t>19/22 người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27D22-B0EE-43B0-A902-BB4A39BD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47900"/>
            <a:ext cx="24193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10545C-87BE-43B9-8F4F-1853AE1C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4384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942"/>
          </a:solidFill>
          <a:ln xmlns:a="http://schemas.openxmlformats.org/drawingml/2006/main" w="0">
            <a:solidFill>
              <a:srgbClr val="E3A9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903587-8941-4F3E-9B42-4E789F3B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47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0E5"/>
                </a:solidFill>
              </a:defRPr>
            </a:pPr>
            <a:r>
              <a:rPr sz="2400" b="1">
                <a:solidFill>
                  <a:srgbClr val="F3F0E5"/>
                </a:solidFill>
              </a:rPr>
              <a:t>45.5%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91B26A-D71B-4A41-83EC-45FD1CEE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67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mất thời gian tự tổng hợp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AD24E-D116-4151-80DA-4FE43F7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671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2C8BB"/>
                </a:solidFill>
              </a:defRPr>
            </a:pPr>
            <a:r>
              <a:rPr sz="825" b="0">
                <a:solidFill>
                  <a:srgbClr val="C2C8BB"/>
                </a:solidFill>
              </a:rPr>
              <a:t>10/22 người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CD2452-1EFA-4B47-89D7-C527E726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24193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22677-70BD-44FD-A145-2202BBEC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6F"/>
          </a:solidFill>
          <a:ln xmlns:a="http://schemas.openxmlformats.org/drawingml/2006/main" w="0">
            <a:solidFill>
              <a:srgbClr val="C7D36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F41845-CE64-4F2D-BEBA-4EB8CC32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F0E5"/>
                </a:solidFill>
              </a:defRPr>
            </a:pPr>
            <a:r>
              <a:rPr sz="2400" b="1">
                <a:solidFill>
                  <a:srgbClr val="F3F0E5"/>
                </a:solidFill>
              </a:rPr>
              <a:t>59.1%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03AA79-2423-4186-8344-2686DC0B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67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muốn được nhắc quiz ngay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7B4E14-1498-4DA1-B8DF-F38929C2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6710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2C8BB"/>
                </a:solidFill>
              </a:defRPr>
            </a:pPr>
            <a:r>
              <a:rPr sz="825" b="0">
                <a:solidFill>
                  <a:srgbClr val="C2C8BB"/>
                </a:solidFill>
              </a:rPr>
              <a:t>13/22 người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B3B997-365E-444B-80EB-C1120882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5A4524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F4E9FD-1FBD-49E0-AFB7-8080E3A1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0E5"/>
                </a:solidFill>
              </a:defRPr>
            </a:pPr>
            <a:r>
              <a:rPr sz="1800" b="1">
                <a:solidFill>
                  <a:srgbClr val="F3F0E5"/>
                </a:solidFill>
              </a:rPr>
              <a:t>“Tự mất thời gian làm thành flashcard hoặc câu hỏi để tự đố bản thân.”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ED1CF9-5120-4795-A602-10E11E27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1965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Cùng một pain xuất hiện trong dữ liệu: đọc lại thì nhanh, nhưng không biết mình nhớ đúng hay chưa.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C7F5A-E378-44BD-B580-5D327C85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296"/>
                </a:solidFill>
              </a:defRPr>
            </a:pPr>
            <a:r>
              <a:rPr sz="750" b="0">
                <a:solidFill>
                  <a:srgbClr val="92A296"/>
                </a:solidFill>
              </a:rPr>
              <a:t>Bằng chứng: spec.md §1–§2 · khảo sát n = 22</a:t>
            </a:r>
          </a:p>
        </p:txBody>
      </p:sp>
    </p:spTree>
    <p:extLst>
      <p:ext uri="{BB962C8B-B14F-4D97-AF65-F5344CB8AC3E}">
        <p14:creationId xmlns:p14="http://schemas.microsoft.com/office/powerpoint/2010/main" val="6443183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2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813C0A-BB79-4AE4-AA2B-189541D1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855C"/>
                </a:solidFill>
              </a:defRPr>
            </a:pPr>
            <a:r>
              <a:rPr sz="900" b="1">
                <a:solidFill>
                  <a:srgbClr val="E6855C"/>
                </a:solidFill>
              </a:rPr>
              <a:t>2 · QUYẾT ĐỊNH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704ABF-673C-43EE-ADEA-2101CE8C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0E5"/>
                </a:solidFill>
              </a:defRPr>
            </a:pPr>
            <a:r>
              <a:rPr sz="2700" b="1">
                <a:solidFill>
                  <a:srgbClr val="F3F0E5"/>
                </a:solidFill>
              </a:rPr>
              <a:t>Nhóm chọn một feature đủ nhỏ để build trong một ngày, nhưng đủ gần pain để tạo giá trị.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2884F-7758-435C-B656-C0BE42D8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Quyết định không dựa trên cảm giác: ba ứng viên được so theo số người gặp, tần suất và chi phí mỗi lần.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A3F4E-84D3-47A3-8105-EE31F3F1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55C"/>
          </a:solidFill>
          <a:ln xmlns:a="http://schemas.openxmlformats.org/drawingml/2006/main" w="0">
            <a:solidFill>
              <a:srgbClr val="E685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AFA4B-9106-4E43-8792-CB4B006D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2C8BB"/>
                </a:solidFill>
              </a:defRPr>
            </a:pPr>
            <a:r>
              <a:rPr sz="975" b="1">
                <a:solidFill>
                  <a:srgbClr val="C2C8BB"/>
                </a:solidFill>
              </a:rPr>
              <a:t>ỨNG VIÊN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1836A-7C8A-44EF-8A03-566F07D7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14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2C8BB"/>
                </a:solidFill>
              </a:defRPr>
            </a:pPr>
            <a:r>
              <a:rPr sz="975" b="1">
                <a:solidFill>
                  <a:srgbClr val="C2C8BB"/>
                </a:solidFill>
              </a:rPr>
              <a:t>ĐỘ PHỦ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2697B-60BF-47C1-B6A1-1D2C802B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2C8BB"/>
                </a:solidFill>
              </a:defRPr>
            </a:pPr>
            <a:r>
              <a:rPr sz="975" b="1">
                <a:solidFill>
                  <a:srgbClr val="C2C8BB"/>
                </a:solidFill>
              </a:rPr>
              <a:t>CHI PHÍ MỖI LẦN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63CF6-623B-4053-9F6D-A01F5299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4735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EF1F5-79CC-433D-8145-C7318F5E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Highlight nhưng không review có kiểm chứng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B8A74E-ACC0-4C86-A700-AD25E01A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03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84B"/>
                </a:solidFill>
              </a:defRPr>
            </a:pPr>
            <a:r>
              <a:rPr sz="1200" b="1">
                <a:solidFill>
                  <a:srgbClr val="F2C84B"/>
                </a:solidFill>
              </a:rPr>
              <a:t>13/22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896E3-C62F-4CF5-995E-D28946E6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5–10 phút tự tổng hợp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3E76E-296B-4C85-A661-2F76D843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003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7D36F"/>
                </a:solidFill>
              </a:defRPr>
            </a:pPr>
            <a:r>
              <a:rPr sz="975" b="1">
                <a:solidFill>
                  <a:srgbClr val="C7D36F"/>
                </a:solidFill>
              </a:rPr>
              <a:t>CHỌN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24B1D-1AC2-487C-9E7D-3098A3A3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4735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925FC-6520-441C-BE39-B66E1633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Chỉ đọc lại highlight/ghi chú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64A0D-D8C2-4C88-940C-DE3D7CF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84B"/>
                </a:solidFill>
              </a:defRPr>
            </a:pPr>
            <a:r>
              <a:rPr sz="1200" b="1">
                <a:solidFill>
                  <a:srgbClr val="F2C84B"/>
                </a:solidFill>
              </a:rPr>
              <a:t>19/22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06EA1-AD29-45E9-B1C4-ECD71A83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2–5 phút nhưng không biết nhớ đúng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2274B-0FE7-4C5E-8948-366F1C0A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1908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7D36F"/>
                </a:solidFill>
              </a:defRPr>
            </a:pPr>
            <a:r>
              <a:rPr sz="975" b="1">
                <a:solidFill>
                  <a:srgbClr val="C7D36F"/>
                </a:solidFill>
              </a:rPr>
              <a:t>CHỌN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F31D3A-9CDA-4416-BA59-57E1D98A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C4735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C84F6-1847-47F8-899C-F73F7BE4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814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Nhắc quiz đúng nhịp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A0918-9A86-4271-A262-01FC2B53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814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84B"/>
                </a:solidFill>
              </a:defRPr>
            </a:pPr>
            <a:r>
              <a:rPr sz="1200" b="1">
                <a:solidFill>
                  <a:srgbClr val="F2C84B"/>
                </a:solidFill>
              </a:rPr>
              <a:t>13/22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0CDAE-5B71-4413-AD9A-501E3D83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814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1–2 phút, không muốn tự soạn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833155-1A02-46E7-BE1D-E6FEB4F9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814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C7D36F"/>
                </a:solidFill>
              </a:defRPr>
            </a:pPr>
            <a:r>
              <a:rPr sz="975" b="1">
                <a:solidFill>
                  <a:srgbClr val="C7D36F"/>
                </a:solidFill>
              </a:rPr>
              <a:t>CHỌN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36C57-9E54-4A9E-9D5A-30BCD801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77E43-68BA-41C0-872E-0CFFE747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0E5"/>
                </a:solidFill>
              </a:defRPr>
            </a:pPr>
            <a:r>
              <a:rPr sz="1200" b="0">
                <a:solidFill>
                  <a:srgbClr val="F3F0E5"/>
                </a:solidFill>
              </a:rPr>
              <a:t>Ghi chép ra vở/Notion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CB1BA-DE8B-4911-82D6-FF4D352F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719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C8BB"/>
                </a:solidFill>
              </a:defRPr>
            </a:pPr>
            <a:r>
              <a:rPr sz="1200" b="1">
                <a:solidFill>
                  <a:srgbClr val="C2C8BB"/>
                </a:solidFill>
              </a:rPr>
              <a:t>2/22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30E1FE-83C1-48E2-8A38-D7896D3D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719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Không phải luồng chiếm ưu thế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CAE8F4-6851-46B1-982C-9C1A1BC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7197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08165"/>
                </a:solidFill>
              </a:defRPr>
            </a:pPr>
            <a:r>
              <a:rPr sz="975" b="1">
                <a:solidFill>
                  <a:srgbClr val="E08165"/>
                </a:solidFill>
              </a:rPr>
              <a:t>LOẠI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57001-E411-40AF-BFB6-FA050D85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08204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378E9-A41E-4D32-86F7-363D6FAD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625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0E5"/>
                </a:solidFill>
              </a:defRPr>
            </a:pPr>
            <a:r>
              <a:rPr sz="1200" b="0">
                <a:solidFill>
                  <a:srgbClr val="F3F0E5"/>
                </a:solidFill>
              </a:rPr>
              <a:t>Đọc lướt nhiều lần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D2D4B7-2E70-46B5-9E3B-B81F742B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625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2C8BB"/>
                </a:solidFill>
              </a:defRPr>
            </a:pPr>
            <a:r>
              <a:rPr sz="1200" b="1">
                <a:solidFill>
                  <a:srgbClr val="C2C8BB"/>
                </a:solidFill>
              </a:rPr>
              <a:t>19/22 · kém/bình thường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961396-3ECF-401E-B778-4E575464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625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Không giải quyết review có kiểm chứng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5D87A1-ED9A-4EA2-88A8-8E7C16EC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625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E08165"/>
                </a:solidFill>
              </a:defRPr>
            </a:pPr>
            <a:r>
              <a:rPr sz="975" b="1">
                <a:solidFill>
                  <a:srgbClr val="E08165"/>
                </a:solidFill>
              </a:rPr>
              <a:t>LOẠI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6C0A48-8D6E-4CF4-9799-5C699FED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44B39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FCCF6A-6E16-47AA-BF99-92F30316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36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3F0E5"/>
                </a:solidFill>
              </a:defRPr>
            </a:pPr>
            <a:r>
              <a:rPr sz="1425" b="1">
                <a:solidFill>
                  <a:srgbClr val="F3F0E5"/>
                </a:solidFill>
              </a:rPr>
              <a:t>Lát cắt đã chốt: highlight → quiz/flashcard → review ngắn có căn cứ.</a:t>
            </a:r>
          </a:p>
        </p:txBody>
      </p:sp>
    </p:spTree>
    <p:extLst>
      <p:ext uri="{BB962C8B-B14F-4D97-AF65-F5344CB8AC3E}">
        <p14:creationId xmlns:p14="http://schemas.microsoft.com/office/powerpoint/2010/main" val="1149076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2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AFFE4B-5AE8-4E25-877B-3253D38B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855C"/>
                </a:solidFill>
              </a:defRPr>
            </a:pPr>
            <a:r>
              <a:rPr sz="900" b="1">
                <a:solidFill>
                  <a:srgbClr val="E6855C"/>
                </a:solidFill>
              </a:rPr>
              <a:t>3 · TRẢI NGHIỆM 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A65B3-292F-4067-8068-3A262E81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0E5"/>
                </a:solidFill>
              </a:defRPr>
            </a:pPr>
            <a:r>
              <a:rPr sz="2700" b="1">
                <a:solidFill>
                  <a:srgbClr val="F3F0E5"/>
                </a:solidFill>
              </a:rPr>
              <a:t>Sản phẩm rút một thao tác học thủ công thành một vòng self-check hoàn chỉnh.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797ACA-E1C0-41F3-972A-7F615809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Mọi output đều bị khóa vào page và đoạn highlight đang mở.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0119F-D3C1-4299-AA85-F03879D2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55C"/>
          </a:solidFill>
          <a:ln xmlns:a="http://schemas.openxmlformats.org/drawingml/2006/main" w="0">
            <a:solidFill>
              <a:srgbClr val="E685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8A219-4F04-431B-A797-105B1C5C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324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E5151-D571-41BD-97A6-1F054570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84B"/>
                </a:solidFill>
              </a:defRPr>
            </a:pPr>
            <a:r>
              <a:rPr sz="975" b="1">
                <a:solidFill>
                  <a:srgbClr val="F2C84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FE97E-AD82-47E5-8906-C110477A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0E5"/>
                </a:solidFill>
              </a:defRPr>
            </a:pPr>
            <a:r>
              <a:rPr sz="1800" b="1">
                <a:solidFill>
                  <a:srgbClr val="F3F0E5"/>
                </a:solidFill>
              </a:rPr>
              <a:t>Highlight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45679-1826-4D1E-BAC3-EC5C9509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8BB"/>
                </a:solidFill>
              </a:defRPr>
            </a:pPr>
            <a:r>
              <a:rPr sz="1200" b="0">
                <a:solidFill>
                  <a:srgbClr val="C2C8BB"/>
                </a:solidFill>
              </a:rPr>
              <a:t>Chọn đúng đoạn đang học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D03CB-DACD-46BC-9751-0666FF23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solidFill>
              <a:srgbClr val="F2C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D84B2-7F22-49D0-92C6-9949B1DA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5755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DD9F70-415F-4AD2-978B-7E049333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2324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01FFA-E3DF-4697-8115-5A8E8176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7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84B"/>
                </a:solidFill>
              </a:defRPr>
            </a:pPr>
            <a:r>
              <a:rPr sz="975" b="1">
                <a:solidFill>
                  <a:srgbClr val="F2C84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370B4-6AB8-43F7-8ED7-017BFDD5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71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0E5"/>
                </a:solidFill>
              </a:defRPr>
            </a:pPr>
            <a:r>
              <a:rPr sz="1800" b="1">
                <a:solidFill>
                  <a:srgbClr val="F3F0E5"/>
                </a:solidFill>
              </a:rPr>
              <a:t>Generate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AD81A2-037E-4DE0-B35B-33A82272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8BB"/>
                </a:solidFill>
              </a:defRPr>
            </a:pPr>
            <a:r>
              <a:rPr sz="1200" b="0">
                <a:solidFill>
                  <a:srgbClr val="C2C8BB"/>
                </a:solidFill>
              </a:rPr>
              <a:t>Tạo 3–5 MCQ + 2 flashcard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2629E-E2A9-4013-A8AF-233B3AA8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8135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solidFill>
              <a:srgbClr val="F2C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0903D-0869-4CBA-844A-319B5B77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5755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CD36A-7802-4192-BD93-712F403E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43150"/>
            <a:ext cx="2324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0257B-B345-4430-8FB4-FFD7BE70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7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84B"/>
                </a:solidFill>
              </a:defRPr>
            </a:pPr>
            <a:r>
              <a:rPr sz="975" b="1">
                <a:solidFill>
                  <a:srgbClr val="F2C84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42B66-DFF1-4763-9DF6-B78D0A62D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0E5"/>
                </a:solidFill>
              </a:defRPr>
            </a:pPr>
            <a:r>
              <a:rPr sz="1800" b="1">
                <a:solidFill>
                  <a:srgbClr val="F3F0E5"/>
                </a:solidFill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C759F-0E2D-4B92-A726-C4C0CF2CD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052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8BB"/>
                </a:solidFill>
              </a:defRPr>
            </a:pPr>
            <a:r>
              <a:rPr sz="1200" b="0">
                <a:solidFill>
                  <a:srgbClr val="C2C8BB"/>
                </a:solidFill>
              </a:rPr>
              <a:t>Làm bài trong dưới 2 phút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ECA0C7-930D-4DF7-A918-EB98B6B8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81350"/>
            <a:ext cx="4381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C84B"/>
          </a:solidFill>
          <a:ln xmlns:a="http://schemas.openxmlformats.org/drawingml/2006/main" w="0">
            <a:solidFill>
              <a:srgbClr val="F2C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0CF264-8869-4118-BAF6-74A6AADE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57550"/>
            <a:ext cx="24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DCF38E-954B-49ED-AC7F-754D39B8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43150"/>
            <a:ext cx="23241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44B39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FA14B4-DC7D-4ED0-A28A-CFEBE583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717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2C84B"/>
                </a:solidFill>
              </a:defRPr>
            </a:pPr>
            <a:r>
              <a:rPr sz="975" b="1">
                <a:solidFill>
                  <a:srgbClr val="F2C84B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D7F46F-8B89-4C96-B568-E0825A38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71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0E5"/>
                </a:solidFill>
              </a:defRPr>
            </a:pPr>
            <a:r>
              <a:rPr sz="1800" b="1">
                <a:solidFill>
                  <a:srgbClr val="F3F0E5"/>
                </a:solidFill>
              </a:rPr>
              <a:t>Verify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F357B9-FC81-4140-8E39-283F8157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052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2C8BB"/>
                </a:solidFill>
              </a:defRPr>
            </a:pPr>
            <a:r>
              <a:rPr sz="1200" b="0">
                <a:solidFill>
                  <a:srgbClr val="C2C8BB"/>
                </a:solidFill>
              </a:rPr>
              <a:t>Xem đáp án + citation Pxxx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0181B6-74D0-44E9-8B4C-7BBA9EED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33450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1C4735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07AF1C-EFEB-4205-9DF3-9F6E1818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84B"/>
                </a:solidFill>
              </a:defRPr>
            </a:pPr>
            <a:r>
              <a:rPr sz="1050" b="1">
                <a:solidFill>
                  <a:srgbClr val="F2C84B"/>
                </a:solidFill>
              </a:rPr>
              <a:t>Kết quả người học nhận được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42D39-60E4-4BBC-B131-5D6F5CD5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1032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0E5"/>
                </a:solidFill>
              </a:defRPr>
            </a:pPr>
            <a:r>
              <a:rPr sz="1575" b="1">
                <a:solidFill>
                  <a:srgbClr val="F3F0E5"/>
                </a:solidFill>
              </a:rPr>
              <a:t>Một mini-review đúng ngữ cảnh, có thể tự kiểm tra và sửa ngay, thay vì tự gom lại bằng tay.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33830D-D1B4-4F4C-B36F-F4D52492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296"/>
                </a:solidFill>
              </a:defRPr>
            </a:pPr>
            <a:r>
              <a:rPr sz="750" b="0">
                <a:solidFill>
                  <a:srgbClr val="92A296"/>
                </a:solidFill>
              </a:rPr>
              <a:t>Flow trong spec.md §4 và §6 · prototype hiện là Mock với endpoint AI thật</a:t>
            </a:r>
          </a:p>
        </p:txBody>
      </p:sp>
    </p:spTree>
    <p:extLst>
      <p:ext uri="{BB962C8B-B14F-4D97-AF65-F5344CB8AC3E}">
        <p14:creationId xmlns:p14="http://schemas.microsoft.com/office/powerpoint/2010/main" val="1665673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2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F562BB-4EC3-4B42-8A07-2BD03E6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855C"/>
                </a:solidFill>
              </a:defRPr>
            </a:pPr>
            <a:r>
              <a:rPr sz="900" b="1">
                <a:solidFill>
                  <a:srgbClr val="E6855C"/>
                </a:solidFill>
              </a:rPr>
              <a:t>4 · HÀNH VI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A6326-3AF4-401B-B6DB-7AA66538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0E5"/>
                </a:solidFill>
              </a:defRPr>
            </a:pPr>
            <a:r>
              <a:rPr sz="2700" b="1">
                <a:solidFill>
                  <a:srgbClr val="F3F0E5"/>
                </a:solidFill>
              </a:rPr>
              <a:t>Automation chỉ tự động khi có căn cứ; không chắc thì hệ thống lùi lại.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F91361-7075-4750-97BF-E6C59DBD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Đây là điểm khác biệt giữa một quiz generator và một trải nghiệm học có thể tin được.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5D49B6-B182-49C9-B0E5-E4A3376D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55C"/>
          </a:solidFill>
          <a:ln xmlns:a="http://schemas.openxmlformats.org/drawingml/2006/main" w="0">
            <a:solidFill>
              <a:srgbClr val="E685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96464-4CCC-4E1B-98B4-BCB05BAF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2762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244B39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40EE9-DA72-4B60-8C77-EE40537D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36F"/>
          </a:solidFill>
          <a:ln xmlns:a="http://schemas.openxmlformats.org/drawingml/2006/main" w="0">
            <a:solidFill>
              <a:srgbClr val="C7D36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1A6F8-8506-49F4-9A51-762E887C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D36F"/>
                </a:solidFill>
              </a:defRPr>
            </a:pPr>
            <a:r>
              <a:rPr sz="1200" b="1">
                <a:solidFill>
                  <a:srgbClr val="C7D36F"/>
                </a:solidFill>
              </a:rPr>
              <a:t>Có context rõ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D817E-FDF6-45CE-943F-E49D9009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0E5"/>
                </a:solidFill>
              </a:defRPr>
            </a:pPr>
            <a:r>
              <a:rPr sz="1875" b="1">
                <a:solidFill>
                  <a:srgbClr val="F3F0E5"/>
                </a:solidFill>
              </a:rPr>
              <a:t>Tự sinh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FA56C-4552-4028-806C-9CC0CD50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page + highlight rõ → tạo quiz/flashcard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0EE62-2E7B-4A08-A780-D0428312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05050"/>
            <a:ext cx="2762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5A4524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52D20-682A-4664-9268-55ADD9E0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527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A942"/>
          </a:solidFill>
          <a:ln xmlns:a="http://schemas.openxmlformats.org/drawingml/2006/main" w="0">
            <a:solidFill>
              <a:srgbClr val="E3A9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850D1-7F0C-4321-B2F0-1F636BDF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3A942"/>
                </a:solidFill>
              </a:defRPr>
            </a:pPr>
            <a:r>
              <a:rPr sz="1200" b="1">
                <a:solidFill>
                  <a:srgbClr val="E3A942"/>
                </a:solidFill>
              </a:rPr>
              <a:t>Thiếu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B3B85-1BF9-4883-96A4-3297E586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3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0E5"/>
                </a:solidFill>
              </a:defRPr>
            </a:pPr>
            <a:r>
              <a:rPr sz="1875" b="1">
                <a:solidFill>
                  <a:srgbClr val="F3F0E5"/>
                </a:solidFill>
              </a:rPr>
              <a:t>Hỏi lại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6CBCD-7DCC-4954-8DB9-CCD45675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385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ask_clarify, yêu cầu page/segment cụ thể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DAA7F-F9D0-405C-B6CF-5704B9EF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05050"/>
            <a:ext cx="2762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4D2F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93F85F-04CC-4D83-B25B-26AF0110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527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8165"/>
          </a:solidFill>
          <a:ln xmlns:a="http://schemas.openxmlformats.org/drawingml/2006/main" w="0">
            <a:solidFill>
              <a:srgbClr val="E081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058AC-BF97-40B3-8291-795F7081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08165"/>
                </a:solidFill>
              </a:defRPr>
            </a:pPr>
            <a:r>
              <a:rPr sz="1200" b="1">
                <a:solidFill>
                  <a:srgbClr val="E08165"/>
                </a:solidFill>
              </a:rPr>
              <a:t>Không có căn cứ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3482A-3A71-4148-86A0-183AD0A0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0E5"/>
                </a:solidFill>
              </a:defRPr>
            </a:pPr>
            <a:r>
              <a:rPr sz="1875" b="1">
                <a:solidFill>
                  <a:srgbClr val="F3F0E5"/>
                </a:solidFill>
              </a:rPr>
              <a:t>Không đoán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9FA11-4183-458D-8F77-4545960B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insufficientAnswer + citation để kiểm lại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1CCA4A-4257-42E8-9678-C0133A05D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84B"/>
                </a:solidFill>
              </a:defRPr>
            </a:pPr>
            <a:r>
              <a:rPr sz="1200" b="1">
                <a:solidFill>
                  <a:srgbClr val="F2C84B"/>
                </a:solidFill>
              </a:rPr>
              <a:t>4 lớp chỗ khó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81221B-67D3-4122-AA81-7EBE89AE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476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077EE-B1D7-4267-A8FB-E16CED20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1. Nguồn sự thật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14302-428F-4A5D-8477-25605579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57750"/>
            <a:ext cx="2476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FB1B1E-971D-4B59-BFBD-8A9C680E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482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2. Mơ hồ / thiếu thông tin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4F24E1-E055-4D65-BBAF-02EFB9FC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57750"/>
            <a:ext cx="2476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B484B2-DADA-4408-9C77-265BF38F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482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3. Ngoài phạm vi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81EAED-0682-44BE-A6B8-1F39D40F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476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01853-F3F0-434C-BE6A-E5BC73C7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4825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F0E5"/>
                </a:solidFill>
              </a:defRPr>
            </a:pPr>
            <a:r>
              <a:rPr sz="1200" b="1">
                <a:solidFill>
                  <a:srgbClr val="F3F0E5"/>
                </a:solidFill>
              </a:rPr>
              <a:t>4. Đặc thù domain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BD298A-2AB5-4CD8-85DD-96CC2429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C2C8BB"/>
                </a:solidFill>
              </a:defRPr>
            </a:pPr>
            <a:r>
              <a:rPr sz="1350" b="0">
                <a:solidFill>
                  <a:srgbClr val="C2C8BB"/>
                </a:solidFill>
              </a:rPr>
              <a:t>Người học luôn có đường lui: sửa highlight, đổi page, hỏi lại hoặc bỏ qua AI.</a:t>
            </a:r>
          </a:p>
        </p:txBody>
      </p:sp>
    </p:spTree>
    <p:extLst>
      <p:ext uri="{BB962C8B-B14F-4D97-AF65-F5344CB8AC3E}">
        <p14:creationId xmlns:p14="http://schemas.microsoft.com/office/powerpoint/2010/main" val="1666819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C8255-61EA-4469-9925-F4153922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855C"/>
                </a:solidFill>
              </a:defRPr>
            </a:pPr>
            <a:r>
              <a:rPr sz="900" b="1">
                <a:solidFill>
                  <a:srgbClr val="E6855C"/>
                </a:solidFill>
              </a:rPr>
              <a:t>5 · PHẠM VI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8A8FB-D73D-4900-A102-70569B8D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0E5"/>
                </a:solidFill>
              </a:defRPr>
            </a:pPr>
            <a:r>
              <a:rPr sz="2700" b="1">
                <a:solidFill>
                  <a:srgbClr val="F3F0E5"/>
                </a:solidFill>
              </a:rPr>
              <a:t>Mock ở giao diện, thật ở quyết định trung tâm.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0BE77-33E0-473F-859F-8735DF03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Scope được cắt để demo end-to-end mà không hứa quá những gì sản phẩm chưa làm.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C78D9-CF76-4DA8-BDCE-2CB2645A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55C"/>
          </a:solidFill>
          <a:ln xmlns:a="http://schemas.openxmlformats.org/drawingml/2006/main" w="0">
            <a:solidFill>
              <a:srgbClr val="E685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B9E7E-638B-4C5D-ABD9-60E12B3E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B012D-A854-467C-AD77-13FE9617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84B"/>
                </a:solidFill>
              </a:defRPr>
            </a:pPr>
            <a:r>
              <a:rPr sz="1125" b="1">
                <a:solidFill>
                  <a:srgbClr val="F2C84B"/>
                </a:solidFill>
              </a:rPr>
              <a:t>MOCK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5DD08-EA82-4E32-823D-DD6ECC1E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0E5"/>
                </a:solidFill>
              </a:defRPr>
            </a:pPr>
            <a:r>
              <a:rPr sz="1950" b="1">
                <a:solidFill>
                  <a:srgbClr val="F3F0E5"/>
                </a:solidFill>
              </a:rPr>
              <a:t>UI highlight + tạo quiz/flashcard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87641-6AB8-4A53-8CC3-2C8B270F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C8BB"/>
                </a:solidFill>
              </a:defRPr>
            </a:pPr>
            <a:r>
              <a:rPr sz="1350" b="0">
                <a:solidFill>
                  <a:srgbClr val="C2C8BB"/>
                </a:solidFill>
              </a:rPr>
              <a:t>State client mô phỏng luồng học. Mục tiêu là để người dùng bấm được từ trang đang xem đến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0DC4F-0735-4920-8C7C-A2A017E4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C4735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CA106-F307-4F90-9296-317C847F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146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D36F"/>
                </a:solidFill>
              </a:defRPr>
            </a:pPr>
            <a:r>
              <a:rPr sz="1125" b="1">
                <a:solidFill>
                  <a:srgbClr val="C7D36F"/>
                </a:solidFill>
              </a:rPr>
              <a:t>THẬT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E7251-E7E5-433C-B661-85967F29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4286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3F0E5"/>
                </a:solidFill>
              </a:defRPr>
            </a:pPr>
            <a:r>
              <a:rPr sz="1950" b="1">
                <a:solidFill>
                  <a:srgbClr val="F3F0E5"/>
                </a:solidFill>
              </a:rPr>
              <a:t>`/api/agent` gọi AI thực tế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AFA242-6338-4950-9A73-D91C1436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409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2C8BB"/>
                </a:solidFill>
              </a:defRPr>
            </a:pPr>
            <a:r>
              <a:rPr sz="1350" b="0">
                <a:solidFill>
                  <a:srgbClr val="C2C8BB"/>
                </a:solidFill>
              </a:rPr>
              <a:t>Sinh quiz, flashcard và trả lời theo materialId / page / context; output mang citation và trạng thái confidence.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2B94A-1496-4FAF-8CC2-30BC2E9B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5A4524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A99C1-51D8-4239-8C32-831DCCDD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036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3F0E5"/>
                </a:solidFill>
              </a:defRPr>
            </a:pPr>
            <a:r>
              <a:rPr sz="1275" b="1">
                <a:solidFill>
                  <a:srgbClr val="F3F0E5"/>
                </a:solidFill>
              </a:rPr>
              <a:t>Không build: full curriculum · analytics cá nhân · quiz toàn slide · yêu cầu ngoài phạm vi tài liệu.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04EE3-0109-4F78-A700-4E60D65B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296"/>
                </a:solidFill>
              </a:defRPr>
            </a:pPr>
            <a:r>
              <a:rPr sz="750" b="0">
                <a:solidFill>
                  <a:srgbClr val="92A296"/>
                </a:solidFill>
              </a:rPr>
              <a:t>Prototype level: Mock · phần gọi AI: thật · spec.md §4</a:t>
            </a:r>
          </a:p>
        </p:txBody>
      </p:sp>
    </p:spTree>
    <p:extLst>
      <p:ext uri="{BB962C8B-B14F-4D97-AF65-F5344CB8AC3E}">
        <p14:creationId xmlns:p14="http://schemas.microsoft.com/office/powerpoint/2010/main" val="15686820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2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D678D-476D-4778-B869-CD06C61B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855C"/>
                </a:solidFill>
              </a:defRPr>
            </a:pPr>
            <a:r>
              <a:rPr sz="900" b="1">
                <a:solidFill>
                  <a:srgbClr val="E6855C"/>
                </a:solidFill>
              </a:rPr>
              <a:t>6 · KIỂM THỬ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7248E-0764-4049-9480-3126E1F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0E5"/>
                </a:solidFill>
              </a:defRPr>
            </a:pPr>
            <a:r>
              <a:rPr sz="2700" b="1">
                <a:solidFill>
                  <a:srgbClr val="F3F0E5"/>
                </a:solidFill>
              </a:rPr>
              <a:t>Kết quả eval tốt ở groundedness, nhưng chưa đủ điều kiện quality bar cuối.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A7F8BC-B1FD-42B7-8A92-A220A42F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Báo cáo giữ nguyên điểm thiếu live response để không biến kết quả test thành một tuyên bố quá mức.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ACF97-D144-4076-8216-B369C973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55C"/>
          </a:solidFill>
          <a:ln xmlns:a="http://schemas.openxmlformats.org/drawingml/2006/main" w="0">
            <a:solidFill>
              <a:srgbClr val="E685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60000-5F79-4930-95AB-D44DFA7E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5717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244B39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F1475-7A6B-4F11-B8B2-7CE9AAA8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D36F"/>
                </a:solidFill>
              </a:defRPr>
            </a:pPr>
            <a:r>
              <a:rPr sz="3000" b="1">
                <a:solidFill>
                  <a:srgbClr val="C7D36F"/>
                </a:solidFill>
              </a:rPr>
              <a:t>52 / 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40AFE-B8E2-4A89-B094-866F63D7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0E5"/>
                </a:solidFill>
              </a:defRPr>
            </a:pPr>
            <a:r>
              <a:rPr sz="1350" b="1">
                <a:solidFill>
                  <a:srgbClr val="F3F0E5"/>
                </a:solidFill>
              </a:rPr>
              <a:t>groundedness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1E0CA-287C-4E52-9631-C1208497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source isolation = 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D9CF4-5204-4D90-933A-69618BE2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09800"/>
            <a:ext cx="257175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244B39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B3CC0-3336-495D-AB92-6480AAE7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57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7D36F"/>
                </a:solidFill>
              </a:defRPr>
            </a:pPr>
            <a:r>
              <a:rPr sz="3000" b="1">
                <a:solidFill>
                  <a:srgbClr val="C7D36F"/>
                </a:solidFill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1D3659-F0B0-4FBA-BACF-12BDB7AF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28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0E5"/>
                </a:solidFill>
              </a:defRPr>
            </a:pPr>
            <a:r>
              <a:rPr sz="1350" b="1">
                <a:solidFill>
                  <a:srgbClr val="F3F0E5"/>
                </a:solidFill>
              </a:rPr>
              <a:t>out-of-scope 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817677-8A7E-480B-82F5-0AC967CD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290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2C8BB"/>
                </a:solidFill>
              </a:defRPr>
            </a:pPr>
            <a:r>
              <a:rPr sz="1125" b="0">
                <a:solidFill>
                  <a:srgbClr val="C2C8BB"/>
                </a:solidFill>
              </a:rPr>
              <a:t>refuse đúng khi bị yêu cầu vượt phạm vi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801F7-C760-49B5-831E-596B5524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5067300" cy="1885950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4D2F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ADF2E-AA64-4FD7-A863-81692536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574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08165"/>
                </a:solidFill>
              </a:defRPr>
            </a:pPr>
            <a:r>
              <a:rPr sz="3000" b="1">
                <a:solidFill>
                  <a:srgbClr val="E08165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85C2F-DE38-41AD-BFE4-534F08E4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3F0E5"/>
                </a:solidFill>
              </a:defRPr>
            </a:pPr>
            <a:r>
              <a:rPr sz="1350" b="1">
                <a:solidFill>
                  <a:srgbClr val="F3F0E5"/>
                </a:solidFill>
              </a:rPr>
              <a:t>live response trong lượt báo cáo cuối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5618A-CAED-48B9-B39B-13134495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08165"/>
                </a:solidFill>
              </a:defRPr>
            </a:pPr>
            <a:r>
              <a:rPr sz="1125" b="0">
                <a:solidFill>
                  <a:srgbClr val="E08165"/>
                </a:solidFill>
              </a:rPr>
              <a:t>Vì vậy chưa đạt quality bar: cần ≥1 live response.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0CED2-4CB7-47BE-8AF0-2E734127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108204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FF6FA-152C-4E48-B6CE-46A29A58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84B"/>
                </a:solidFill>
              </a:defRPr>
            </a:pPr>
            <a:r>
              <a:rPr sz="1125" b="1">
                <a:solidFill>
                  <a:srgbClr val="F2C84B"/>
                </a:solidFill>
              </a:rPr>
              <a:t>Quality bar đã chốt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0AAFC-DBB8-4110-BEF4-8E416E57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2445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3F0E5"/>
                </a:solidFill>
              </a:defRPr>
            </a:pPr>
            <a:r>
              <a:rPr sz="1575" b="1">
                <a:solidFill>
                  <a:srgbClr val="F3F0E5"/>
                </a:solidFill>
              </a:rPr>
              <a:t>≥ 80% qua bộ · 100% source isolation · 100% out-of-scope pass · tối thiểu 1 response 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594B3C-2B8E-4864-89E9-0AA949A4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47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2A296"/>
                </a:solidFill>
              </a:defRPr>
            </a:pPr>
            <a:r>
              <a:rPr sz="750" b="0">
                <a:solidFill>
                  <a:srgbClr val="92A296"/>
                </a:solidFill>
              </a:rPr>
              <a:t>Evidence: spec.md §7 · eval/README.md · eval/golden-set.md</a:t>
            </a:r>
          </a:p>
        </p:txBody>
      </p:sp>
    </p:spTree>
    <p:extLst>
      <p:ext uri="{BB962C8B-B14F-4D97-AF65-F5344CB8AC3E}">
        <p14:creationId xmlns:p14="http://schemas.microsoft.com/office/powerpoint/2010/main" val="5895024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2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E1DE0-208B-455A-8808-107A7B8F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855C"/>
                </a:solidFill>
              </a:defRPr>
            </a:pPr>
            <a:r>
              <a:rPr sz="900" b="1">
                <a:solidFill>
                  <a:srgbClr val="E6855C"/>
                </a:solidFill>
              </a:rPr>
              <a:t>7 · KỊCH BẢN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AF963-F438-447D-8556-56523E6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0E5"/>
                </a:solidFill>
              </a:defRPr>
            </a:pPr>
            <a:r>
              <a:rPr sz="2700" b="1">
                <a:solidFill>
                  <a:srgbClr val="F3F0E5"/>
                </a:solidFill>
              </a:rPr>
              <a:t>Trong 5 phút, người xem phải thấy cả happy path và cách sản phẩm tự bảo vệ chất lượng.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66503-1CA6-42D9-A19F-A8DFA9AE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Demo không chỉ chứng minh UI bấm được; demo phải chứng minh quyết định AI có căn cứ.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7D24B4-B7D4-4BA1-BD15-15A1F003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71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55C"/>
          </a:solidFill>
          <a:ln xmlns:a="http://schemas.openxmlformats.org/drawingml/2006/main" w="0">
            <a:solidFill>
              <a:srgbClr val="E685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BDE1E-5159-463C-A4E2-C065AB0E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C4735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F3897-210C-451C-99AE-47171BAC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717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C84B"/>
                </a:solidFill>
              </a:defRPr>
            </a:pPr>
            <a:r>
              <a:rPr sz="1350" b="1">
                <a:solidFill>
                  <a:srgbClr val="F2C84B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3F7C5F-3AA8-4EE3-9F48-9C765E9B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431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0E5"/>
                </a:solidFill>
              </a:defRPr>
            </a:pPr>
            <a:r>
              <a:rPr sz="1425" b="1">
                <a:solidFill>
                  <a:srgbClr val="F3F0E5"/>
                </a:solidFill>
              </a:rPr>
              <a:t>Happy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B40216-457A-4624-813F-EE24841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Highlight đoạn rõ → tạo quiz → làm 1 câu → xem citation.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E7C1F-E187-44E4-BB6C-D4F9EFAF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108204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A55AB-B761-4F11-B5EB-0EA56518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527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C84B"/>
                </a:solidFill>
              </a:defRPr>
            </a:pPr>
            <a:r>
              <a:rPr sz="1350" b="1">
                <a:solidFill>
                  <a:srgbClr val="F2C84B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DBBEEE-EB40-433D-B7C8-5D977596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242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0E5"/>
                </a:solidFill>
              </a:defRPr>
            </a:pPr>
            <a:r>
              <a:rPr sz="1425" b="1">
                <a:solidFill>
                  <a:srgbClr val="F3F0E5"/>
                </a:solidFill>
              </a:rPr>
              <a:t>Low-confidence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6327F-3639-4C03-A776-404E27C8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24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Không chọn page/segment → hệ thống ask_clarify.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BB8412-F982-44DC-B3D2-45FB53D1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08204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DB5AF-065D-4D96-863A-CB9C9D97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338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C84B"/>
                </a:solidFill>
              </a:defRPr>
            </a:pPr>
            <a:r>
              <a:rPr sz="1350" b="1">
                <a:solidFill>
                  <a:srgbClr val="F2C84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6246B-A0F1-4B05-8859-1D4D7EBF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05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0E5"/>
                </a:solidFill>
              </a:defRPr>
            </a:pPr>
            <a:r>
              <a:rPr sz="1425" b="1">
                <a:solidFill>
                  <a:srgbClr val="F3F0E5"/>
                </a:solidFill>
              </a:rPr>
              <a:t>Failure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67B204-C0E6-4F18-A8E9-DEFF5DDB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Tài liệu không đủ evidence → không đoán, trả insufficientAnswer.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F8239-6643-43B1-B220-98D7A8CE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4382A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827B0-ACF7-4BE9-A2C7-23392F5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C84B"/>
                </a:solidFill>
              </a:defRPr>
            </a:pPr>
            <a:r>
              <a:rPr sz="1350" b="1">
                <a:solidFill>
                  <a:srgbClr val="F2C84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993F48-87DA-4B88-81D8-67AA8902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863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0E5"/>
                </a:solidFill>
              </a:defRPr>
            </a:pPr>
            <a:r>
              <a:rPr sz="1425" b="1">
                <a:solidFill>
                  <a:srgbClr val="F3F0E5"/>
                </a:solidFill>
              </a:rPr>
              <a:t>Correction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A81710-98BC-472C-BEAF-6725B6A8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2C8BB"/>
                </a:solidFill>
              </a:defRPr>
            </a:pPr>
            <a:r>
              <a:rPr sz="1275" b="0">
                <a:solidFill>
                  <a:srgbClr val="C2C8BB"/>
                </a:solidFill>
              </a:rPr>
              <a:t>Đổi highlight/page → AI re-run theo context mới.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5A923-CE3E-42C8-AE8A-37E6EF49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44B39"/>
          </a:solidFill>
          <a:ln xmlns:a="http://schemas.openxmlformats.org/drawingml/2006/main" w="9525">
            <a:solidFill>
              <a:srgbClr val="3F66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8D700-F254-4BC7-AE87-B304F66D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1036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F0E5"/>
                </a:solidFill>
              </a:defRPr>
            </a:pPr>
            <a:r>
              <a:rPr sz="1350" b="1">
                <a:solidFill>
                  <a:srgbClr val="F3F0E5"/>
                </a:solidFill>
              </a:rPr>
              <a:t>Câu chốt: AI không chỉ tạo nội dung; AI biết khi nào phải hỏi lại hoặc từ chối.</a:t>
            </a:r>
          </a:p>
        </p:txBody>
      </p:sp>
    </p:spTree>
    <p:extLst>
      <p:ext uri="{BB962C8B-B14F-4D97-AF65-F5344CB8AC3E}">
        <p14:creationId xmlns:p14="http://schemas.microsoft.com/office/powerpoint/2010/main" val="273453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2B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8C86B-9754-45AB-A474-5568C122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855C"/>
                </a:solidFill>
              </a:defRPr>
            </a:pPr>
            <a:r>
              <a:rPr sz="900" b="1">
                <a:solidFill>
                  <a:srgbClr val="E6855C"/>
                </a:solidFill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2B44D-B6D2-4748-8821-C8AE8F0B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3F0E5"/>
                </a:solidFill>
              </a:defRPr>
            </a:pPr>
            <a:r>
              <a:rPr sz="3750" b="1">
                <a:solidFill>
                  <a:srgbClr val="F3F0E5"/>
                </a:solidFill>
              </a:rPr>
              <a:t>Một lát cắt nhỏ,</a:t>
            </a:r>
          </a:p>
          <a:p xmlns:a="http://schemas.openxmlformats.org/drawingml/2006/main">
            <a:pPr algn="l">
              <a:defRPr sz="3750" b="1">
                <a:solidFill>
                  <a:srgbClr val="F3F0E5"/>
                </a:solidFill>
              </a:defRPr>
            </a:pPr>
            <a:r>
              <a:rPr sz="3750" b="1">
                <a:solidFill>
                  <a:srgbClr val="F3F0E5"/>
                </a:solidFill>
              </a:rPr>
              <a:t>một quyết định có căn cứ.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9E9AB-7FF9-4C33-B7A0-7AE69A6A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695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6DEE8"/>
                </a:solidFill>
              </a:defRPr>
            </a:pPr>
            <a:r>
              <a:rPr sz="1800" b="0">
                <a:solidFill>
                  <a:srgbClr val="D6DEE8"/>
                </a:solidFill>
              </a:rPr>
              <a:t>Adaptive Recall Review giải quyết đúng pain đã đo được: giảm công tự tổng hợp và biến highlight thành một nhịp kiểm tra nhớ ngắn.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9E454-E920-4E8A-9E48-06ACFC3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855C"/>
          </a:solidFill>
          <a:ln xmlns:a="http://schemas.openxmlformats.org/drawingml/2006/main" w="0">
            <a:solidFill>
              <a:srgbClr val="E685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B3CEA-E7D6-4203-96F9-1C90FDA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714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3F0E5"/>
                </a:solidFill>
              </a:defRPr>
            </a:pPr>
            <a:r>
              <a:rPr sz="1500" b="1">
                <a:solidFill>
                  <a:srgbClr val="F3F0E5"/>
                </a:solidFill>
              </a:rPr>
              <a:t>Bước tiếp theo: chạy live response, validation với ≥3 người thật, rồi đối chiếu lại quality bar.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F00C2-1920-4061-B023-0004092E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66700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2C84B"/>
          </a:solidFill>
          <a:ln xmlns:a="http://schemas.openxmlformats.org/drawingml/2006/main" w="0">
            <a:solidFill>
              <a:srgbClr val="F2C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91796-9A26-4940-8BF4-6912E48C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240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F0E5"/>
                </a:solidFill>
              </a:defRPr>
            </a:pPr>
            <a:r>
              <a:rPr sz="1350" b="1">
                <a:solidFill>
                  <a:srgbClr val="F3F0E5"/>
                </a:solidFill>
              </a:rPr>
              <a:t>HIGHLIGHT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D619D-E68C-4D7B-96EC-B8E8646B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527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3F0E5"/>
                </a:solidFill>
              </a:defRPr>
            </a:pPr>
            <a:r>
              <a:rPr sz="2850" b="1">
                <a:solidFill>
                  <a:srgbClr val="F3F0E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E9CA9-6F0A-45AF-96D6-7D7049A5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623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3F0E5"/>
                </a:solidFill>
              </a:defRPr>
            </a:pPr>
            <a:r>
              <a:rPr sz="1350" b="1">
                <a:solidFill>
                  <a:srgbClr val="F3F0E5"/>
                </a:solidFill>
              </a:rPr>
              <a:t>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20D3F-0076-4E2A-B0D3-81507607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668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AB5C2"/>
                </a:solidFill>
              </a:defRPr>
            </a:pPr>
            <a:r>
              <a:rPr sz="750" b="0">
                <a:solidFill>
                  <a:srgbClr val="AAB5C2"/>
                </a:solidFill>
              </a:rPr>
              <a:t>AI SPEC — VLearn Adaptive Recall Review · Nhóm I'm BACK</a:t>
            </a:r>
          </a:p>
        </p:txBody>
      </p:sp>
    </p:spTree>
    <p:extLst>
      <p:ext uri="{BB962C8B-B14F-4D97-AF65-F5344CB8AC3E}">
        <p14:creationId xmlns:p14="http://schemas.microsoft.com/office/powerpoint/2010/main" val="1619212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2026-07-31T04:35:39.0500000Z</dcterms:created>
  <dcterms:modified xsi:type="dcterms:W3CDTF">2026-07-31T04:35:39.0500000Z</dcterms:modified>
</coreProperties>
</file>